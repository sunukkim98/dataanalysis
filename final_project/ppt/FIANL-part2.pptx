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Play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nlwb1/r+k8qsD6BHkhpvYZ+E4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D7F685-6EA3-4768-A37B-2E30BA7EF840}">
  <a:tblStyle styleId="{B3D7F685-6EA3-4768-A37B-2E30BA7EF8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-bold.fntdata"/><Relationship Id="rId30" Type="http://schemas.openxmlformats.org/officeDocument/2006/relationships/font" Target="fonts/Play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105cfdb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2105cfdbe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105cfdbe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2105cfdbe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105cfdbe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2105cfdbe1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105cfdbe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2105cfdbe1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105cfdbe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2105cfdbe1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105cfdbe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2105cfdbe1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105cfdb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2105cfdbe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105cfdbe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2105cfdbe1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10859426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210859426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10859426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210859426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10859426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2108594268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10859426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210859426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10859426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2108594268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10859426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2108594268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10859426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2108594268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10859426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2108594268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10859426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2108594268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10859426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2108594268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10859426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2108594268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전자제조분석 Final project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68012"/>
            <a:ext cx="9144000" cy="2014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2024. 12. 12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사람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사람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사람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목차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설명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데이터 개요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문제 풀이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결론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398813" y="3792971"/>
            <a:ext cx="439387" cy="49876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F6C5A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e/f. 단계적 회귀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e. [6장 다중선형회귀]에서 설명한 대로 단계적 회귀(stepwise regression)를 사용해 </a:t>
            </a:r>
            <a:r>
              <a:rPr lang="ko-KR">
                <a:solidFill>
                  <a:srgbClr val="4892DC"/>
                </a:solidFill>
                <a:latin typeface="Arial"/>
                <a:ea typeface="Arial"/>
                <a:cs typeface="Arial"/>
                <a:sym typeface="Arial"/>
              </a:rPr>
              <a:t>학습 데이터 셋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에 가장 잘 적합된(정확도가 가장 높은 모델을 찾으시오. 어떤 예측변수가 사용되는가?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ko-KR">
                <a:solidFill>
                  <a:srgbClr val="4892DC"/>
                </a:solidFill>
                <a:latin typeface="Arial"/>
                <a:ea typeface="Arial"/>
                <a:cs typeface="Arial"/>
                <a:sym typeface="Arial"/>
              </a:rPr>
              <a:t>검증 데이터셋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에서 가장 정확도가 높은 모델을 찾기 위해 단계적 회귀(stepwise regression)를 사용하시오. 어떤 예측변수가 사용되는가?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e/f. 단계적 회귀 - 문제 풀이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625" y="1690700"/>
            <a:ext cx="7719550" cy="497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916975" y="2864600"/>
            <a:ext cx="7664700" cy="59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941825" y="5179700"/>
            <a:ext cx="5726400" cy="1487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105cfdbe1_0_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e/f. 단계적 회귀 - 문제 풀이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32105cfdbe1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605225"/>
            <a:ext cx="10515600" cy="210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2105cfdbe1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690821"/>
            <a:ext cx="12192001" cy="4048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2105cfdbe1_0_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e/f. 단계적 회귀 - 문제 풀이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2105cfdbe1_0_3"/>
          <p:cNvSpPr/>
          <p:nvPr/>
        </p:nvSpPr>
        <p:spPr>
          <a:xfrm>
            <a:off x="838200" y="2720400"/>
            <a:ext cx="10301700" cy="118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105cfdbe1_0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e/f. 단계적 회귀 - 문제 풀이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2105cfdbe1_0_11"/>
          <p:cNvSpPr txBox="1"/>
          <p:nvPr>
            <p:ph idx="1" type="body"/>
          </p:nvPr>
        </p:nvSpPr>
        <p:spPr>
          <a:xfrm>
            <a:off x="838200" y="1825625"/>
            <a:ext cx="10515600" cy="5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e. </a:t>
            </a:r>
            <a:r>
              <a:rPr lang="ko-KR"/>
              <a:t>학습 데이터 셋에 잘 적합할 경우 선택된 변수는</a:t>
            </a:r>
            <a:endParaRPr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/>
              <a:t>ClosePrice </a:t>
            </a:r>
            <a:r>
              <a:rPr b="1" lang="ko-KR" sz="2300"/>
              <a:t>(0.082)</a:t>
            </a:r>
            <a:endParaRPr b="1" sz="2300"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/>
              <a:t>OpenPrice</a:t>
            </a:r>
            <a:r>
              <a:rPr lang="ko-KR" sz="2300"/>
              <a:t> </a:t>
            </a:r>
            <a:r>
              <a:rPr b="1" lang="ko-KR" sz="2300"/>
              <a:t>(-0.098)</a:t>
            </a:r>
            <a:endParaRPr b="1" sz="2300"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/>
              <a:t>MergedCategory_Books+Clothing/Accessories+Toys/Hobbies+Antique/Art/Craft+Collectibles+Music/Movie/Game</a:t>
            </a:r>
            <a:r>
              <a:rPr b="1" lang="ko-KR" sz="2300"/>
              <a:t> (0.528)</a:t>
            </a:r>
            <a:endParaRPr b="1" sz="2300"/>
          </a:p>
          <a:p>
            <a:pPr indent="-222250" lvl="1" marL="6858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/>
              <a:t>MergedCategory_SportingGoods </a:t>
            </a:r>
            <a:r>
              <a:rPr b="1" lang="ko-KR" sz="2300"/>
              <a:t>(0.214)</a:t>
            </a:r>
            <a:endParaRPr b="1" sz="2300"/>
          </a:p>
          <a:p>
            <a:pPr indent="-222250" lvl="1" marL="6858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>
                <a:solidFill>
                  <a:srgbClr val="4A86E8"/>
                </a:solidFill>
              </a:rPr>
              <a:t>Merged_endDay_Fri+Wed+Sun</a:t>
            </a:r>
            <a:r>
              <a:rPr lang="ko-KR" sz="2300"/>
              <a:t> </a:t>
            </a:r>
            <a:r>
              <a:rPr b="1" lang="ko-KR" sz="2300"/>
              <a:t>(-0.398)</a:t>
            </a:r>
            <a:endParaRPr b="1" sz="2300"/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92DC"/>
              </a:solidFill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ko-KR"/>
              <a:t>Validation AIC score : 900.00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2105cfdbe1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690825"/>
            <a:ext cx="9446174" cy="45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2105cfdbe1_0_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e/f. 단계적 회귀 - 문제 풀이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2105cfdbe1_0_35"/>
          <p:cNvSpPr/>
          <p:nvPr/>
        </p:nvSpPr>
        <p:spPr>
          <a:xfrm>
            <a:off x="838200" y="1690825"/>
            <a:ext cx="9446100" cy="205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105cfdbe1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e/f. 단계적 회귀 - 문제 풀이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2105cfdbe1_0_18"/>
          <p:cNvSpPr txBox="1"/>
          <p:nvPr>
            <p:ph idx="1" type="body"/>
          </p:nvPr>
        </p:nvSpPr>
        <p:spPr>
          <a:xfrm>
            <a:off x="838200" y="1825625"/>
            <a:ext cx="10515600" cy="5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f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/>
              <a:t>검증 데이터 셋에 잘 적합할 경우 선택된 변수는</a:t>
            </a:r>
            <a:endParaRPr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/>
              <a:t>ClosePrice</a:t>
            </a:r>
            <a:r>
              <a:rPr lang="ko-KR" sz="2300"/>
              <a:t> </a:t>
            </a:r>
            <a:r>
              <a:rPr b="1" lang="ko-KR" sz="2300"/>
              <a:t>(0.075)</a:t>
            </a:r>
            <a:endParaRPr b="1" sz="2300"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/>
              <a:t>OpenPrice</a:t>
            </a:r>
            <a:r>
              <a:rPr lang="ko-KR" sz="2300"/>
              <a:t> </a:t>
            </a:r>
            <a:r>
              <a:rPr b="1" lang="ko-KR" sz="2300"/>
              <a:t>(-0.091)</a:t>
            </a:r>
            <a:endParaRPr b="1" sz="2300"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/>
              <a:t>MergedCategory_Books+Clothing/Accessories+Toys/Hobbies+Antique/Art/Craft+Collectibles+Music/Movie/Game</a:t>
            </a:r>
            <a:r>
              <a:rPr b="1" lang="ko-KR" sz="2300"/>
              <a:t> (0.819)</a:t>
            </a:r>
            <a:endParaRPr b="1" sz="2300"/>
          </a:p>
          <a:p>
            <a:pPr indent="-222250" lvl="1" marL="6858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/>
              <a:t>MergedCategory_SportingGoods </a:t>
            </a:r>
            <a:r>
              <a:rPr b="1" lang="ko-KR" sz="2300"/>
              <a:t>(0.575)</a:t>
            </a:r>
            <a:endParaRPr b="1" sz="2300"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>
                <a:solidFill>
                  <a:srgbClr val="4A86E8"/>
                </a:solidFill>
              </a:rPr>
              <a:t>MergedCategory_Home/Garden+Computer+Business/Industrial</a:t>
            </a:r>
            <a:r>
              <a:rPr lang="ko-KR" sz="2300">
                <a:solidFill>
                  <a:srgbClr val="4A86E8"/>
                </a:solidFill>
              </a:rPr>
              <a:t> </a:t>
            </a:r>
            <a:r>
              <a:rPr b="1" lang="ko-KR" sz="2300"/>
              <a:t>(0.851)</a:t>
            </a:r>
            <a:endParaRPr b="1" sz="2300"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>
                <a:solidFill>
                  <a:srgbClr val="4A86E8"/>
                </a:solidFill>
              </a:rPr>
              <a:t>MergedCategory_Health/Beauty </a:t>
            </a:r>
            <a:r>
              <a:rPr b="1" lang="ko-KR" sz="2300"/>
              <a:t>(-1.057)</a:t>
            </a:r>
            <a:endParaRPr b="1" sz="2300"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>
                <a:solidFill>
                  <a:srgbClr val="4A86E8"/>
                </a:solidFill>
              </a:rPr>
              <a:t>MergedCategory_Electronics+Photography</a:t>
            </a:r>
            <a:r>
              <a:rPr lang="ko-KR" sz="2300"/>
              <a:t> </a:t>
            </a:r>
            <a:r>
              <a:rPr b="1" lang="ko-KR" sz="2300"/>
              <a:t>(1.245)</a:t>
            </a:r>
            <a:endParaRPr sz="2300"/>
          </a:p>
          <a:p>
            <a:pPr indent="-2222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ko-KR" sz="2300">
                <a:solidFill>
                  <a:srgbClr val="4A86E8"/>
                </a:solidFill>
              </a:rPr>
              <a:t>Merged_endDay_Sat</a:t>
            </a:r>
            <a:r>
              <a:rPr b="1" lang="ko-KR" sz="2300">
                <a:solidFill>
                  <a:srgbClr val="4A86E8"/>
                </a:solidFill>
              </a:rPr>
              <a:t> </a:t>
            </a:r>
            <a:r>
              <a:rPr b="1" lang="ko-KR" sz="2300"/>
              <a:t>(-0.507)</a:t>
            </a:r>
            <a:endParaRPr b="1" sz="2300">
              <a:solidFill>
                <a:srgbClr val="4892DC"/>
              </a:solidFill>
            </a:endParaRPr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92DC"/>
              </a:solidFill>
            </a:endParaRPr>
          </a:p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ko-KR"/>
              <a:t>Validation AIC score : 836.34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105cfdbe1_0_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e/f. 단계적 회귀 - 결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과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 분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석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105cfdbe1_0_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i. L1 벌점화 비교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2105cfdbe1_0_52"/>
          <p:cNvSpPr txBox="1"/>
          <p:nvPr>
            <p:ph idx="1" type="body"/>
          </p:nvPr>
        </p:nvSpPr>
        <p:spPr>
          <a:xfrm>
            <a:off x="838200" y="1825625"/>
            <a:ext cx="10515600" cy="5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학습 데이터셋에 </a:t>
            </a:r>
            <a:r>
              <a:rPr lang="ko-KR">
                <a:solidFill>
                  <a:srgbClr val="4A86E8"/>
                </a:solidFill>
              </a:rPr>
              <a:t>L1 페널티가 있는 벌점화(regularized) 로지스틱 회귀</a:t>
            </a:r>
            <a:r>
              <a:rPr lang="ko-KR"/>
              <a:t>를 사용한다. 이 결과(예측변수와 분류 성능)를, </a:t>
            </a:r>
            <a:r>
              <a:rPr lang="ko-KR">
                <a:solidFill>
                  <a:srgbClr val="4A86E8"/>
                </a:solidFill>
              </a:rPr>
              <a:t>가장 잘 적합한 모델 및 가장 잘 예측한 모델</a:t>
            </a:r>
            <a:r>
              <a:rPr lang="ko-KR"/>
              <a:t>의 결과와 비교하시오.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105cfdbe1_0_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i. L1 벌점화 비교 - 문제 풀이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2105cfdbe1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690825"/>
            <a:ext cx="8440673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2105cfdbe1_0_61"/>
          <p:cNvSpPr/>
          <p:nvPr/>
        </p:nvSpPr>
        <p:spPr>
          <a:xfrm>
            <a:off x="4296175" y="2189875"/>
            <a:ext cx="1274100" cy="28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2105cfdbe1_0_61"/>
          <p:cNvSpPr/>
          <p:nvPr/>
        </p:nvSpPr>
        <p:spPr>
          <a:xfrm>
            <a:off x="838200" y="3347125"/>
            <a:ext cx="1844400" cy="28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2105cfdbe1_0_61"/>
          <p:cNvSpPr txBox="1"/>
          <p:nvPr/>
        </p:nvSpPr>
        <p:spPr>
          <a:xfrm>
            <a:off x="6407800" y="3184513"/>
            <a:ext cx="3000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ko-KR" sz="2800">
                <a:solidFill>
                  <a:schemeClr val="lt1"/>
                </a:solidFill>
              </a:rPr>
              <a:t>Validation AIC score : 836.34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108594268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i. L1 벌점화 비교 - 문제 풀이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2108594268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690825"/>
            <a:ext cx="7429500" cy="45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2108594268_0_1"/>
          <p:cNvSpPr/>
          <p:nvPr/>
        </p:nvSpPr>
        <p:spPr>
          <a:xfrm>
            <a:off x="838200" y="3116775"/>
            <a:ext cx="5326200" cy="330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108594268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i. L1 벌점화 비교 - 문제 풀이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2108594268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7050" y="4147950"/>
            <a:ext cx="3619500" cy="2394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2108594268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3725" y="2209800"/>
            <a:ext cx="44100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2108594268_0_12"/>
          <p:cNvSpPr txBox="1"/>
          <p:nvPr>
            <p:ph idx="1" type="body"/>
          </p:nvPr>
        </p:nvSpPr>
        <p:spPr>
          <a:xfrm>
            <a:off x="838200" y="1825625"/>
            <a:ext cx="6105600" cy="22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Best 모델과 비교하여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True Negative 1 증가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False Negative 8 증가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AIC 836 -&gt; 878로 증가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108594268_0_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i. L1 벌점화 비교 - 결과 분석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9" name="Google Shape;179;g32108594268_0_45"/>
          <p:cNvGraphicFramePr/>
          <p:nvPr/>
        </p:nvGraphicFramePr>
        <p:xfrm>
          <a:off x="6777225" y="169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{B3D7F685-6EA3-4768-A37B-2E30BA7EF840}</a:tableStyleId>
              </a:tblPr>
              <a:tblGrid>
                <a:gridCol w="1795775"/>
                <a:gridCol w="1180925"/>
                <a:gridCol w="1180925"/>
                <a:gridCol w="1180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Best Model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L2-Regularized Model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L1-Regularized Model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OpenPrice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-0.091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-0.092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-0.092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ClosedPrice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0.075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0.076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0.076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Merged</a:t>
                      </a:r>
                      <a:r>
                        <a:rPr lang="ko-KR"/>
                        <a:t>Category_Books…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0.819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0.716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0.668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MergedCategory_</a:t>
                      </a:r>
                      <a:r>
                        <a:rPr lang="ko-KR"/>
                        <a:t>Home…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0.851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0.703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0.648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MergedCategory_Health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-1.057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-0.974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-0.992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Merged</a:t>
                      </a:r>
                      <a:r>
                        <a:rPr lang="ko-KR"/>
                        <a:t>Category_Electr…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1.245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0.943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0.893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MergedCategory_Sport…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0.575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0.417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0.306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Merged_endDat_Sat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-0.507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-0.493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-0.417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g32108594268_0_45"/>
          <p:cNvSpPr txBox="1"/>
          <p:nvPr>
            <p:ph idx="1" type="body"/>
          </p:nvPr>
        </p:nvSpPr>
        <p:spPr>
          <a:xfrm>
            <a:off x="838200" y="1825625"/>
            <a:ext cx="5939100" cy="4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L1-Regularized model의 coefficient의 크기가 전반적으로 감소함.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특히 양수 파라미터가 크게 감소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이로 인해 negative로 예측된 데이터 포인트들이 증가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108594268_0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j. 최적의 컷오프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2108594268_0_28"/>
          <p:cNvSpPr txBox="1"/>
          <p:nvPr>
            <p:ph idx="1" type="body"/>
          </p:nvPr>
        </p:nvSpPr>
        <p:spPr>
          <a:xfrm>
            <a:off x="838200" y="1825625"/>
            <a:ext cx="105156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모델 분석의 주목적이 정확한 분류라고 한다면, 어떤 </a:t>
            </a:r>
            <a:r>
              <a:rPr lang="ko-KR">
                <a:solidFill>
                  <a:srgbClr val="4892DC"/>
                </a:solidFill>
              </a:rPr>
              <a:t>컷오프</a:t>
            </a:r>
            <a:r>
              <a:rPr lang="ko-KR"/>
              <a:t> 값이 사용되어야 하는가?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108594268_0_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j. 최적의 컷오프 - 문제풀이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108594268_0_40"/>
          <p:cNvSpPr txBox="1"/>
          <p:nvPr>
            <p:ph idx="1" type="body"/>
          </p:nvPr>
        </p:nvSpPr>
        <p:spPr>
          <a:xfrm>
            <a:off x="838200" y="1825625"/>
            <a:ext cx="10515600" cy="45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모델 분석의 주목적이 정확한 분류라고 한다면, 어떤 </a:t>
            </a:r>
            <a:r>
              <a:rPr lang="ko-KR">
                <a:solidFill>
                  <a:srgbClr val="4892DC"/>
                </a:solidFill>
              </a:rPr>
              <a:t>컷오프</a:t>
            </a:r>
            <a:r>
              <a:rPr lang="ko-KR"/>
              <a:t> 값이 사용되어야 하는가?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-&gt; 라</a:t>
            </a:r>
            <a:r>
              <a:rPr lang="ko-KR"/>
              <a:t>벨</a:t>
            </a:r>
            <a:r>
              <a:rPr lang="ko-KR"/>
              <a:t>의 비율이 </a:t>
            </a:r>
            <a:r>
              <a:rPr lang="ko-KR">
                <a:solidFill>
                  <a:srgbClr val="CC4125"/>
                </a:solidFill>
              </a:rPr>
              <a:t>906:1066</a:t>
            </a:r>
            <a:r>
              <a:rPr lang="ko-KR"/>
              <a:t> 으로 완벽하게 균일하지 않음</a:t>
            </a:r>
            <a:br>
              <a:rPr lang="ko-KR"/>
            </a:br>
            <a:r>
              <a:rPr lang="ko-KR"/>
              <a:t>     </a:t>
            </a:r>
            <a:r>
              <a:rPr lang="ko-KR">
                <a:solidFill>
                  <a:srgbClr val="CC4125"/>
                </a:solidFill>
              </a:rPr>
              <a:t>Accuracy</a:t>
            </a:r>
            <a:r>
              <a:rPr lang="ko-KR"/>
              <a:t>와 </a:t>
            </a:r>
            <a:r>
              <a:rPr lang="ko-KR">
                <a:solidFill>
                  <a:srgbClr val="CC4125"/>
                </a:solidFill>
              </a:rPr>
              <a:t>F1-score</a:t>
            </a:r>
            <a:r>
              <a:rPr lang="ko-KR"/>
              <a:t>를 함께 비교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108594268_0_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j. 최적의 컷오프 - 문제풀이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2108594268_0_52"/>
          <p:cNvSpPr txBox="1"/>
          <p:nvPr>
            <p:ph idx="1" type="body"/>
          </p:nvPr>
        </p:nvSpPr>
        <p:spPr>
          <a:xfrm>
            <a:off x="838200" y="6016625"/>
            <a:ext cx="10515600" cy="45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cutoff를 [ 0.0, 1.0, 0.001 ) 로 설정하여 분석</a:t>
            </a:r>
            <a:endParaRPr/>
          </a:p>
        </p:txBody>
      </p:sp>
      <p:pic>
        <p:nvPicPr>
          <p:cNvPr id="199" name="Google Shape;199;g32108594268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3" y="1690825"/>
            <a:ext cx="8363228" cy="42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108594268_0_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j. 최적의 컷오프 - 문제풀이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108594268_0_61"/>
          <p:cNvSpPr txBox="1"/>
          <p:nvPr>
            <p:ph idx="1" type="body"/>
          </p:nvPr>
        </p:nvSpPr>
        <p:spPr>
          <a:xfrm>
            <a:off x="838200" y="1825625"/>
            <a:ext cx="5100300" cy="5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Cutoff 0.495에서 F1-score와 </a:t>
            </a:r>
            <a:r>
              <a:rPr lang="ko-KR"/>
              <a:t>accuracy가</a:t>
            </a:r>
            <a:r>
              <a:rPr lang="ko-KR"/>
              <a:t> 가장 높은 정확도를 보인다.</a:t>
            </a:r>
            <a:endParaRPr>
              <a:solidFill>
                <a:srgbClr val="4A86E8"/>
              </a:solidFill>
            </a:endParaRPr>
          </a:p>
        </p:txBody>
      </p:sp>
      <p:pic>
        <p:nvPicPr>
          <p:cNvPr id="206" name="Google Shape;206;g32108594268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8494" y="1690825"/>
            <a:ext cx="5415275" cy="4037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08594268_0_1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j. 최적의 컷오프 - 결과 분석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2108594268_0_112"/>
          <p:cNvSpPr txBox="1"/>
          <p:nvPr>
            <p:ph idx="1" type="body"/>
          </p:nvPr>
        </p:nvSpPr>
        <p:spPr>
          <a:xfrm>
            <a:off x="838200" y="1825625"/>
            <a:ext cx="6813900" cy="5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데이터셋에 Competitive? 라벨 불균형이 존재</a:t>
            </a:r>
            <a:br>
              <a:rPr lang="ko-KR"/>
            </a:br>
            <a:r>
              <a:rPr lang="ko-KR"/>
              <a:t>  - 경쟁적이지 않은 비율이 전체 라벨의 약 0.459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이로 인해 cutoff를 0.5보다 작게 설정하는 것이 성능 향상에 도움을 줌  </a:t>
            </a:r>
            <a:endParaRPr>
              <a:solidFill>
                <a:srgbClr val="4A86E8"/>
              </a:solidFill>
            </a:endParaRPr>
          </a:p>
        </p:txBody>
      </p:sp>
      <p:pic>
        <p:nvPicPr>
          <p:cNvPr id="213" name="Google Shape;213;g32108594268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01" y="2148123"/>
            <a:ext cx="3701800" cy="32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108594268_0_8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k. 가장 경쟁적일 판매자 경매 조건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2108594268_0_85"/>
          <p:cNvSpPr txBox="1"/>
          <p:nvPr>
            <p:ph idx="1" type="body"/>
          </p:nvPr>
        </p:nvSpPr>
        <p:spPr>
          <a:xfrm>
            <a:off x="838200" y="1825625"/>
            <a:ext cx="10515600" cy="5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이 데이터를 바탕으로 판매자가 정한 경매 조건(</a:t>
            </a:r>
            <a:r>
              <a:rPr lang="ko-KR">
                <a:solidFill>
                  <a:srgbClr val="4892DC"/>
                </a:solidFill>
              </a:rPr>
              <a:t>경매 기간, 시작가, 경매 마감 요일, 화폐 단위</a:t>
            </a:r>
            <a:r>
              <a:rPr lang="ko-KR"/>
              <a:t>) 중 </a:t>
            </a:r>
            <a:r>
              <a:rPr lang="ko-KR">
                <a:solidFill>
                  <a:srgbClr val="4A86E8"/>
                </a:solidFill>
              </a:rPr>
              <a:t>어떤 설정이 경쟁적인 판매</a:t>
            </a:r>
            <a:r>
              <a:rPr lang="ko-KR"/>
              <a:t>로 이어질 가능성을 가장 높인다고 할 수 있겠는가?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108594268_0_92"/>
          <p:cNvSpPr txBox="1"/>
          <p:nvPr>
            <p:ph type="title"/>
          </p:nvPr>
        </p:nvSpPr>
        <p:spPr>
          <a:xfrm>
            <a:off x="838200" y="365125"/>
            <a:ext cx="10923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k. 가장 경쟁적일 판매자 경매 조건 - 문제 풀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이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g32108594268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690825"/>
            <a:ext cx="9926651" cy="31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2108594268_0_92"/>
          <p:cNvSpPr/>
          <p:nvPr/>
        </p:nvSpPr>
        <p:spPr>
          <a:xfrm>
            <a:off x="838200" y="1690825"/>
            <a:ext cx="7893000" cy="9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2108594268_0_92"/>
          <p:cNvSpPr txBox="1"/>
          <p:nvPr>
            <p:ph idx="1" type="body"/>
          </p:nvPr>
        </p:nvSpPr>
        <p:spPr>
          <a:xfrm>
            <a:off x="838200" y="5026025"/>
            <a:ext cx="10515600" cy="45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각 변수들은 경매 시작 전 판매자가 설정할 수 있는 변수들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32108594268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690825"/>
            <a:ext cx="7479091" cy="21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2108594268_0_101"/>
          <p:cNvSpPr txBox="1"/>
          <p:nvPr>
            <p:ph type="title"/>
          </p:nvPr>
        </p:nvSpPr>
        <p:spPr>
          <a:xfrm>
            <a:off x="838200" y="365125"/>
            <a:ext cx="10923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k. 가장 경쟁적일 판매자 경매 조건 - 문제 풀이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2108594268_0_101"/>
          <p:cNvSpPr/>
          <p:nvPr/>
        </p:nvSpPr>
        <p:spPr>
          <a:xfrm>
            <a:off x="4252275" y="1900250"/>
            <a:ext cx="912300" cy="45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2108594268_0_101"/>
          <p:cNvSpPr txBox="1"/>
          <p:nvPr>
            <p:ph idx="1" type="body"/>
          </p:nvPr>
        </p:nvSpPr>
        <p:spPr>
          <a:xfrm>
            <a:off x="838200" y="3883025"/>
            <a:ext cx="10179600" cy="1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OpenPrice : 작을수록 경쟁적인 확률이 높으나 영향은 극히 미미함</a:t>
            </a:r>
            <a:endParaRPr sz="2400"/>
          </a:p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Duration : 경매 기간을 5일로 설정할 경우 경쟁적일 확률이 높음</a:t>
            </a:r>
            <a:endParaRPr sz="2400"/>
          </a:p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Merged_endDay : 월요일에 경매가 종료될 경우 경쟁적일 확률이 높음</a:t>
            </a:r>
            <a:endParaRPr sz="2400"/>
          </a:p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Currency : GBP로 설정하면 경쟁적일 확률이 크게 증가함</a:t>
            </a:r>
            <a:endParaRPr sz="2400"/>
          </a:p>
        </p:txBody>
      </p:sp>
      <p:sp>
        <p:nvSpPr>
          <p:cNvPr id="236" name="Google Shape;236;g32108594268_0_101"/>
          <p:cNvSpPr/>
          <p:nvPr/>
        </p:nvSpPr>
        <p:spPr>
          <a:xfrm>
            <a:off x="3608400" y="2440725"/>
            <a:ext cx="1480500" cy="45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2108594268_0_101"/>
          <p:cNvSpPr/>
          <p:nvPr/>
        </p:nvSpPr>
        <p:spPr>
          <a:xfrm>
            <a:off x="4113675" y="2981200"/>
            <a:ext cx="1050900" cy="45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2108594268_0_101"/>
          <p:cNvSpPr/>
          <p:nvPr/>
        </p:nvSpPr>
        <p:spPr>
          <a:xfrm>
            <a:off x="1484150" y="1929100"/>
            <a:ext cx="858000" cy="404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목차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설명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데이터 개요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문제 풀이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결론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98813" y="4827444"/>
            <a:ext cx="439500" cy="49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F6C5A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2024-12-09T11:28:15Z</dcterms:created>
  <dc:creator>전민서</dc:creator>
</cp:coreProperties>
</file>